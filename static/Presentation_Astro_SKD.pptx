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79588-BF14-44F5-B943-E7B1A01F5C08}" type="datetimeFigureOut">
              <a:rPr lang="en-US" smtClean="0"/>
              <a:t>1/21/2010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8C10-E962-4507-9127-849BB215A2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79588-BF14-44F5-B943-E7B1A01F5C08}" type="datetimeFigureOut">
              <a:rPr lang="en-US" smtClean="0"/>
              <a:t>1/21/2010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8C10-E962-4507-9127-849BB215A2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79588-BF14-44F5-B943-E7B1A01F5C08}" type="datetimeFigureOut">
              <a:rPr lang="en-US" smtClean="0"/>
              <a:t>1/21/2010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8C10-E962-4507-9127-849BB215A2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79588-BF14-44F5-B943-E7B1A01F5C08}" type="datetimeFigureOut">
              <a:rPr lang="en-US" smtClean="0"/>
              <a:t>1/21/2010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8C10-E962-4507-9127-849BB215A2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79588-BF14-44F5-B943-E7B1A01F5C08}" type="datetimeFigureOut">
              <a:rPr lang="en-US" smtClean="0"/>
              <a:t>1/21/2010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8C10-E962-4507-9127-849BB215A2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79588-BF14-44F5-B943-E7B1A01F5C08}" type="datetimeFigureOut">
              <a:rPr lang="en-US" smtClean="0"/>
              <a:t>1/21/2010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8C10-E962-4507-9127-849BB215A2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79588-BF14-44F5-B943-E7B1A01F5C08}" type="datetimeFigureOut">
              <a:rPr lang="en-US" smtClean="0"/>
              <a:t>1/21/2010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8C10-E962-4507-9127-849BB215A2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79588-BF14-44F5-B943-E7B1A01F5C08}" type="datetimeFigureOut">
              <a:rPr lang="en-US" smtClean="0"/>
              <a:t>1/21/2010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8C10-E962-4507-9127-849BB215A2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79588-BF14-44F5-B943-E7B1A01F5C08}" type="datetimeFigureOut">
              <a:rPr lang="en-US" smtClean="0"/>
              <a:t>1/21/2010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8C10-E962-4507-9127-849BB215A2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79588-BF14-44F5-B943-E7B1A01F5C08}" type="datetimeFigureOut">
              <a:rPr lang="en-US" smtClean="0"/>
              <a:t>1/21/2010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8C10-E962-4507-9127-849BB215A2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79588-BF14-44F5-B943-E7B1A01F5C08}" type="datetimeFigureOut">
              <a:rPr lang="en-US" smtClean="0"/>
              <a:t>1/21/2010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8C10-E962-4507-9127-849BB215A2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79588-BF14-44F5-B943-E7B1A01F5C08}" type="datetimeFigureOut">
              <a:rPr lang="en-US" smtClean="0"/>
              <a:t>1/21/2010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48C10-E962-4507-9127-849BB215A2B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3667" y="689583"/>
            <a:ext cx="5796133" cy="5914443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76200" y="228600"/>
            <a:ext cx="617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 dirty="0" smtClean="0">
                <a:latin typeface="Times" charset="0"/>
              </a:rPr>
              <a:t>Astronomy : The study of sky ( night )</a:t>
            </a:r>
            <a:endParaRPr lang="en-GB" dirty="0">
              <a:latin typeface="Times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77000" y="609600"/>
            <a:ext cx="2590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FF0000"/>
                </a:solidFill>
                <a:latin typeface="Times" charset="0"/>
              </a:rPr>
              <a:t>Human beings fascinated by night sky.</a:t>
            </a: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dirty="0" smtClean="0">
              <a:latin typeface="Times" charset="0"/>
            </a:endParaRP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94476B"/>
                </a:solidFill>
                <a:latin typeface="Times" charset="0"/>
              </a:rPr>
              <a:t>Sun , Moon, Planets and fixed stars</a:t>
            </a: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2300DC"/>
                </a:solidFill>
                <a:latin typeface="Times" charset="0"/>
              </a:rPr>
              <a:t>Planets (wanderers)</a:t>
            </a: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FF00FF"/>
                </a:solidFill>
                <a:latin typeface="Times" charset="0"/>
              </a:rPr>
              <a:t>Celestial sphere</a:t>
            </a: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00AE00"/>
                </a:solidFill>
                <a:latin typeface="Times" charset="0"/>
              </a:rPr>
              <a:t>Planets on different spheres</a:t>
            </a: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dirty="0" smtClean="0">
              <a:solidFill>
                <a:srgbClr val="00AE00"/>
              </a:solidFill>
              <a:latin typeface="Times" charset="0"/>
            </a:endParaRP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B84700"/>
                </a:solidFill>
                <a:latin typeface="Times" charset="0"/>
              </a:rPr>
              <a:t>Geo-centric view</a:t>
            </a: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B84700"/>
                </a:solidFill>
                <a:latin typeface="Times" charset="0"/>
              </a:rPr>
              <a:t>Ptolemy</a:t>
            </a: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0066CC"/>
                </a:solidFill>
                <a:latin typeface="Times" charset="0"/>
              </a:rPr>
              <a:t>Copernicus, </a:t>
            </a:r>
            <a:r>
              <a:rPr lang="en-GB" dirty="0" err="1" smtClean="0">
                <a:solidFill>
                  <a:srgbClr val="0066CC"/>
                </a:solidFill>
                <a:latin typeface="Times" charset="0"/>
              </a:rPr>
              <a:t>Gallileo</a:t>
            </a:r>
            <a:endParaRPr lang="en-GB" dirty="0" smtClean="0">
              <a:solidFill>
                <a:srgbClr val="0066CC"/>
              </a:solidFill>
              <a:latin typeface="Times" charset="0"/>
            </a:endParaRP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0066CC"/>
                </a:solidFill>
                <a:latin typeface="Times" charset="0"/>
              </a:rPr>
              <a:t>Observations</a:t>
            </a: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dirty="0" smtClean="0">
              <a:latin typeface="Times" charset="0"/>
            </a:endParaRP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err="1" smtClean="0">
                <a:solidFill>
                  <a:srgbClr val="FF00FF"/>
                </a:solidFill>
                <a:latin typeface="Times" charset="0"/>
              </a:rPr>
              <a:t>Helio</a:t>
            </a:r>
            <a:r>
              <a:rPr lang="en-GB" dirty="0" smtClean="0">
                <a:solidFill>
                  <a:srgbClr val="FF00FF"/>
                </a:solidFill>
                <a:latin typeface="Times" charset="0"/>
              </a:rPr>
              <a:t>-centric view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001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The vast majority of the objects in the night sky – Stars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002060"/>
                </a:solidFill>
              </a:rPr>
              <a:t>Co-ordinate system needed to specify position.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CC00CC"/>
                </a:solidFill>
              </a:rPr>
              <a:t>Diurnal motion of stars – but  they maintain fixed separation between them.</a:t>
            </a:r>
          </a:p>
          <a:p>
            <a:r>
              <a:rPr lang="en-US" dirty="0" smtClean="0">
                <a:solidFill>
                  <a:srgbClr val="CC00CC"/>
                </a:solidFill>
              </a:rPr>
              <a:t>Concept of Celestial sphere, rotating around an axis passing through Celestial pole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The apparent motion is a consequence of Earth’s rotation and revolution in an orbit around the Sun.</a:t>
            </a:r>
          </a:p>
          <a:p>
            <a:endParaRPr lang="en-US" dirty="0" smtClean="0"/>
          </a:p>
          <a:p>
            <a:r>
              <a:rPr lang="en-US" dirty="0" smtClean="0"/>
              <a:t>The geographical latitude of the place of observation plays a major role in the appearance of the sky.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Great circles and small circles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Celestial Equator and  Ecliptic</a:t>
            </a:r>
          </a:p>
          <a:p>
            <a:r>
              <a:rPr lang="en-US" dirty="0" smtClean="0"/>
              <a:t>Zenith, Meridian, First point of Aries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7030A0"/>
                </a:solidFill>
              </a:rPr>
              <a:t>Altitude of the North Celestial Pole -  Geographical latitude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C00000"/>
                </a:solidFill>
              </a:rPr>
              <a:t>Circumpolar stars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28600"/>
            <a:ext cx="6553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Co-ordinates to define the position of  a  star</a:t>
            </a:r>
          </a:p>
          <a:p>
            <a:endParaRPr lang="en-US" dirty="0" smtClean="0"/>
          </a:p>
          <a:p>
            <a:pPr marL="342900" indent="-342900">
              <a:buAutoNum type="arabicParenR"/>
            </a:pPr>
            <a:r>
              <a:rPr lang="en-US" dirty="0" smtClean="0">
                <a:solidFill>
                  <a:srgbClr val="0070C0"/>
                </a:solidFill>
              </a:rPr>
              <a:t>Azimuth – Altitude ( Zenith distance )</a:t>
            </a:r>
          </a:p>
          <a:p>
            <a:pPr marL="342900" indent="-342900">
              <a:buAutoNum type="arabicParenR"/>
            </a:pPr>
            <a:r>
              <a:rPr lang="en-US" dirty="0" smtClean="0">
                <a:solidFill>
                  <a:srgbClr val="0070C0"/>
                </a:solidFill>
              </a:rPr>
              <a:t>Right  Ascension – Declination </a:t>
            </a:r>
          </a:p>
          <a:p>
            <a:pPr marL="342900" indent="-342900">
              <a:buAutoNum type="arabicParenR"/>
            </a:pPr>
            <a:r>
              <a:rPr lang="en-US" dirty="0" smtClean="0">
                <a:solidFill>
                  <a:srgbClr val="CC00CC"/>
                </a:solidFill>
              </a:rPr>
              <a:t>Hour Angle –Polar Distance</a:t>
            </a:r>
          </a:p>
          <a:p>
            <a:pPr marL="342900" indent="-342900">
              <a:buAutoNum type="arabicParenR"/>
            </a:pPr>
            <a:r>
              <a:rPr lang="en-US" dirty="0" smtClean="0">
                <a:solidFill>
                  <a:srgbClr val="CC00CC"/>
                </a:solidFill>
              </a:rPr>
              <a:t>Celestial Latitude &amp; Longitude</a:t>
            </a:r>
            <a:endParaRPr lang="en-US" dirty="0">
              <a:solidFill>
                <a:srgbClr val="CC00CC"/>
              </a:solidFill>
            </a:endParaRPr>
          </a:p>
        </p:txBody>
      </p:sp>
      <p:sp>
        <p:nvSpPr>
          <p:cNvPr id="3" name="Oval 2"/>
          <p:cNvSpPr>
            <a:spLocks noChangeArrowheads="1"/>
          </p:cNvSpPr>
          <p:nvPr/>
        </p:nvSpPr>
        <p:spPr bwMode="auto">
          <a:xfrm>
            <a:off x="596900" y="2590800"/>
            <a:ext cx="3275013" cy="32766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630238" y="3810000"/>
            <a:ext cx="3225800" cy="838200"/>
          </a:xfrm>
          <a:prstGeom prst="ellipse">
            <a:avLst/>
          </a:prstGeom>
          <a:solidFill>
            <a:srgbClr val="00B8FF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5" name="Straight Arrow Connector 4"/>
          <p:cNvCxnSpPr>
            <a:endCxn id="3" idx="7"/>
          </p:cNvCxnSpPr>
          <p:nvPr/>
        </p:nvCxnSpPr>
        <p:spPr>
          <a:xfrm flipV="1">
            <a:off x="2133600" y="3070647"/>
            <a:ext cx="1258698" cy="10441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505200" y="2971800"/>
            <a:ext cx="1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>
          <a:xfrm>
            <a:off x="953386" y="3033824"/>
            <a:ext cx="2406502" cy="2431311"/>
          </a:xfrm>
          <a:custGeom>
            <a:avLst/>
            <a:gdLst>
              <a:gd name="connsiteX0" fmla="*/ 99237 w 2406502"/>
              <a:gd name="connsiteY0" fmla="*/ 102781 h 2431311"/>
              <a:gd name="connsiteX1" fmla="*/ 2406502 w 2406502"/>
              <a:gd name="connsiteY1" fmla="*/ 2431311 h 2431311"/>
              <a:gd name="connsiteX2" fmla="*/ 3544 w 2406502"/>
              <a:gd name="connsiteY2" fmla="*/ 7088 h 2431311"/>
              <a:gd name="connsiteX3" fmla="*/ 2385237 w 2406502"/>
              <a:gd name="connsiteY3" fmla="*/ 2388781 h 2431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502" h="2431311">
                <a:moveTo>
                  <a:pt x="99237" y="102781"/>
                </a:moveTo>
                <a:lnTo>
                  <a:pt x="2406502" y="2431311"/>
                </a:lnTo>
                <a:lnTo>
                  <a:pt x="3544" y="7088"/>
                </a:lnTo>
                <a:cubicBezTo>
                  <a:pt x="0" y="0"/>
                  <a:pt x="1192618" y="1194390"/>
                  <a:pt x="2385237" y="2388781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953000" y="2438400"/>
            <a:ext cx="3733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92D050"/>
                </a:solidFill>
              </a:rPr>
              <a:t>Azimuth : 0 – 180 deg  E, W ,Measured from N, along horizon</a:t>
            </a:r>
          </a:p>
          <a:p>
            <a:r>
              <a:rPr lang="en-US" dirty="0" smtClean="0">
                <a:solidFill>
                  <a:srgbClr val="0033CC"/>
                </a:solidFill>
              </a:rPr>
              <a:t>Altitude : From Horizon towards  Zenith along a great circle thru the body and Z.</a:t>
            </a:r>
          </a:p>
          <a:p>
            <a:r>
              <a:rPr lang="en-US" dirty="0" smtClean="0">
                <a:solidFill>
                  <a:srgbClr val="CC00CC"/>
                </a:solidFill>
              </a:rPr>
              <a:t>Zenith dist = 90 –Alt</a:t>
            </a:r>
          </a:p>
          <a:p>
            <a:r>
              <a:rPr lang="en-US" dirty="0" smtClean="0"/>
              <a:t>These co-ordinates change with time.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52400" y="41148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962400" y="41148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981200" y="48768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981200" y="22860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Z</a:t>
            </a:r>
            <a:endParaRPr lang="en-US" dirty="0"/>
          </a:p>
        </p:txBody>
      </p:sp>
      <p:sp>
        <p:nvSpPr>
          <p:cNvPr id="13" name="Arc 12"/>
          <p:cNvSpPr/>
          <p:nvPr/>
        </p:nvSpPr>
        <p:spPr>
          <a:xfrm flipV="1">
            <a:off x="5715000" y="5791199"/>
            <a:ext cx="228600" cy="45719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c 13"/>
          <p:cNvSpPr/>
          <p:nvPr/>
        </p:nvSpPr>
        <p:spPr>
          <a:xfrm>
            <a:off x="1828800" y="2590800"/>
            <a:ext cx="914400" cy="373380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514600" y="31242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105400" y="4724400"/>
            <a:ext cx="3429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Right ascension : along Celestial equator from first point of Aries – anti clockwise ( degrees or hours)</a:t>
            </a:r>
          </a:p>
          <a:p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</a:rPr>
              <a:t>Declination : 0-90 deg, N or S </a:t>
            </a:r>
          </a:p>
          <a:p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</a:rPr>
              <a:t>Along the great circle from equator thru the body to pole.</a:t>
            </a: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533400"/>
            <a:ext cx="8458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First point of Aries : Intersection of the ecliptic and the Celestial equator.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Ecliptic is the orbital plane of the Earth</a:t>
            </a:r>
            <a:r>
              <a:rPr lang="en-US" dirty="0" smtClean="0"/>
              <a:t>.</a:t>
            </a:r>
          </a:p>
          <a:p>
            <a:r>
              <a:rPr lang="en-US" dirty="0" smtClean="0">
                <a:solidFill>
                  <a:srgbClr val="0033CC"/>
                </a:solidFill>
              </a:rPr>
              <a:t>So apparent yearly motion of the Sun is  along the ecliptic</a:t>
            </a:r>
            <a:r>
              <a:rPr lang="en-US" dirty="0" smtClean="0"/>
              <a:t>.</a:t>
            </a:r>
          </a:p>
          <a:p>
            <a:r>
              <a:rPr lang="en-US" dirty="0" smtClean="0"/>
              <a:t>Diurnal motion of the Sun as well as other stars are in small circles parallel to the equator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On March 21, vernal equinox , the Sun is at the First point of Aries.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It moves along the equator on that day.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124200"/>
            <a:ext cx="838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C00CC"/>
                </a:solidFill>
              </a:rPr>
              <a:t>Hour angle : Measured from the meridian along the equator</a:t>
            </a:r>
          </a:p>
          <a:p>
            <a:r>
              <a:rPr lang="en-US" dirty="0" smtClean="0">
                <a:solidFill>
                  <a:srgbClr val="CC00CC"/>
                </a:solidFill>
              </a:rPr>
              <a:t>Polar distance : Angle of the body from the pole  along the declination circle.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chemeClr val="accent2"/>
                </a:solidFill>
              </a:rPr>
              <a:t>Celestial  latitude and longitude  : </a:t>
            </a:r>
            <a:r>
              <a:rPr lang="en-US" dirty="0" err="1" smtClean="0">
                <a:solidFill>
                  <a:schemeClr val="accent2"/>
                </a:solidFill>
              </a:rPr>
              <a:t>wrt</a:t>
            </a:r>
            <a:r>
              <a:rPr lang="en-US" dirty="0" smtClean="0">
                <a:solidFill>
                  <a:schemeClr val="accent2"/>
                </a:solidFill>
              </a:rPr>
              <a:t>  ecliptic and with respect to pole of ecliptic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85800" y="228600"/>
            <a:ext cx="7620000" cy="1295400"/>
          </a:xfrm>
          <a:prstGeom prst="rect">
            <a:avLst/>
          </a:prstGeom>
        </p:spPr>
        <p:txBody>
          <a:bodyPr>
            <a:normAutofit fontScale="7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Constellations :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88 constellations  - Specific area of the sky</a:t>
            </a:r>
            <a:b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Names of stars – use Greek letters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– e.g.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ymbol" pitchFamily="18" charset="2"/>
                <a:ea typeface="+mj-ea"/>
                <a:cs typeface="+mj-cs"/>
              </a:rPr>
              <a:t>a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Orionis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Also proper names e.g. Betelgeuse</a:t>
            </a:r>
            <a:b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1828801"/>
            <a:ext cx="141941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Brightness in terms of magnitudes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Magnitude 1 to 6 -    Brightness 100 :1   . Log Scale </a:t>
            </a:r>
          </a:p>
          <a:p>
            <a:r>
              <a:rPr lang="en-US" dirty="0" smtClean="0">
                <a:solidFill>
                  <a:srgbClr val="CC00CC"/>
                </a:solidFill>
              </a:rPr>
              <a:t>Brighter  objects – Magnitude 0 and –</a:t>
            </a:r>
            <a:r>
              <a:rPr lang="en-US" dirty="0" err="1" smtClean="0">
                <a:solidFill>
                  <a:srgbClr val="CC00CC"/>
                </a:solidFill>
              </a:rPr>
              <a:t>ve</a:t>
            </a:r>
            <a:endParaRPr lang="en-US" dirty="0" smtClean="0">
              <a:solidFill>
                <a:srgbClr val="CC00CC"/>
              </a:solidFill>
            </a:endParaRPr>
          </a:p>
          <a:p>
            <a:r>
              <a:rPr lang="en-US" dirty="0" smtClean="0">
                <a:solidFill>
                  <a:srgbClr val="002060"/>
                </a:solidFill>
              </a:rPr>
              <a:t>Intensities measured by photometer</a:t>
            </a:r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1600200"/>
            <a:ext cx="6275294" cy="5005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09600"/>
            <a:ext cx="8305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Magnitude ; b, </a:t>
            </a:r>
            <a:r>
              <a:rPr lang="en-US" dirty="0" err="1" smtClean="0">
                <a:solidFill>
                  <a:srgbClr val="FF0000"/>
                </a:solidFill>
              </a:rPr>
              <a:t>br</a:t>
            </a:r>
            <a:r>
              <a:rPr lang="en-US" dirty="0" smtClean="0">
                <a:solidFill>
                  <a:srgbClr val="FF0000"/>
                </a:solidFill>
              </a:rPr>
              <a:t>, ……..br</a:t>
            </a:r>
            <a:r>
              <a:rPr lang="en-US" baseline="30000" dirty="0" smtClean="0">
                <a:solidFill>
                  <a:srgbClr val="FF0000"/>
                </a:solidFill>
              </a:rPr>
              <a:t>5</a:t>
            </a:r>
            <a:r>
              <a:rPr lang="en-US" dirty="0" smtClean="0">
                <a:solidFill>
                  <a:srgbClr val="FF0000"/>
                </a:solidFill>
              </a:rPr>
              <a:t>      r= 100</a:t>
            </a:r>
            <a:r>
              <a:rPr lang="en-US" baseline="30000" dirty="0" smtClean="0">
                <a:solidFill>
                  <a:srgbClr val="FF0000"/>
                </a:solidFill>
              </a:rPr>
              <a:t>1/5      </a:t>
            </a:r>
            <a:r>
              <a:rPr lang="en-US" dirty="0" err="1" smtClean="0">
                <a:solidFill>
                  <a:srgbClr val="FF0000"/>
                </a:solidFill>
              </a:rPr>
              <a:t>bm</a:t>
            </a:r>
            <a:r>
              <a:rPr lang="en-US" dirty="0" smtClean="0">
                <a:solidFill>
                  <a:srgbClr val="FF0000"/>
                </a:solidFill>
              </a:rPr>
              <a:t>/</a:t>
            </a:r>
            <a:r>
              <a:rPr lang="en-US" dirty="0" err="1" smtClean="0">
                <a:solidFill>
                  <a:srgbClr val="FF0000"/>
                </a:solidFill>
              </a:rPr>
              <a:t>bn</a:t>
            </a:r>
            <a:r>
              <a:rPr lang="en-US" dirty="0" smtClean="0">
                <a:solidFill>
                  <a:srgbClr val="FF0000"/>
                </a:solidFill>
              </a:rPr>
              <a:t> = 10</a:t>
            </a:r>
            <a:r>
              <a:rPr lang="en-US" baseline="30000" dirty="0" smtClean="0">
                <a:solidFill>
                  <a:srgbClr val="FF0000"/>
                </a:solidFill>
              </a:rPr>
              <a:t>.4 (n-m) </a:t>
            </a:r>
          </a:p>
          <a:p>
            <a:endParaRPr lang="en-US" baseline="30000" dirty="0"/>
          </a:p>
        </p:txBody>
      </p:sp>
      <p:sp>
        <p:nvSpPr>
          <p:cNvPr id="3" name="TextBox 2"/>
          <p:cNvSpPr txBox="1"/>
          <p:nvPr/>
        </p:nvSpPr>
        <p:spPr>
          <a:xfrm>
            <a:off x="533400" y="1447800"/>
            <a:ext cx="7543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33CC"/>
                </a:solidFill>
              </a:rPr>
              <a:t>Thus relative intensity of  stars being known , the magnitude of one can be calculated if the magnitude of the other is known. 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CC00CC"/>
                </a:solidFill>
              </a:rPr>
              <a:t>Absolute magnitude : Apparent magnitude of the star is what we  see. Absolute magnitude is the value if the star is set hypothetically to a distance of 10 parsecs.</a:t>
            </a:r>
          </a:p>
          <a:p>
            <a:r>
              <a:rPr lang="en-US" dirty="0" smtClean="0">
                <a:solidFill>
                  <a:srgbClr val="CC00CC"/>
                </a:solidFill>
              </a:rPr>
              <a:t>1 Parsec = 3.3 light years.</a:t>
            </a:r>
          </a:p>
          <a:p>
            <a:endParaRPr lang="en-US" dirty="0" smtClean="0"/>
          </a:p>
          <a:p>
            <a:r>
              <a:rPr lang="en-US" dirty="0" smtClean="0"/>
              <a:t>M= m + 5 + 5logP</a:t>
            </a:r>
          </a:p>
          <a:p>
            <a:endParaRPr lang="en-US" dirty="0" smtClean="0"/>
          </a:p>
          <a:p>
            <a:r>
              <a:rPr lang="en-US" dirty="0" smtClean="0"/>
              <a:t>Distance of stars : Heliocentric parallax for near by ones.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chemeClr val="accent2"/>
                </a:solidFill>
              </a:rPr>
              <a:t>Cepheid variables ; Time period of variability related to absolute magnitude.</a:t>
            </a:r>
          </a:p>
          <a:p>
            <a:r>
              <a:rPr lang="en-US" dirty="0" smtClean="0">
                <a:solidFill>
                  <a:schemeClr val="accent2"/>
                </a:solidFill>
              </a:rPr>
              <a:t>Comparison of absolute to apparent magnitude gives distance.</a:t>
            </a:r>
            <a:endParaRPr 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k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65504" y="204216"/>
            <a:ext cx="6412992" cy="64495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ChangeArrowheads="1"/>
          </p:cNvSpPr>
          <p:nvPr/>
        </p:nvSpPr>
        <p:spPr bwMode="auto">
          <a:xfrm>
            <a:off x="242888" y="306388"/>
            <a:ext cx="9440862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>
                <a:solidFill>
                  <a:srgbClr val="FF0000"/>
                </a:solidFill>
                <a:latin typeface="Times" charset="0"/>
              </a:rPr>
              <a:t>Solar System : </a:t>
            </a:r>
            <a:r>
              <a:rPr lang="en-GB">
                <a:solidFill>
                  <a:srgbClr val="2323DC"/>
                </a:solidFill>
                <a:latin typeface="Times" charset="0"/>
              </a:rPr>
              <a:t>Sun, Planets, Satellites, Asteroids, Comets, Meteorites, Gas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2263" y="685800"/>
            <a:ext cx="8756649" cy="3524249"/>
          </a:xfrm>
          <a:prstGeom prst="rect">
            <a:avLst/>
          </a:prstGeom>
          <a:noFill/>
        </p:spPr>
      </p:pic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06388" y="4537075"/>
            <a:ext cx="6342062" cy="1055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FF00FF"/>
                </a:solidFill>
                <a:latin typeface="Times" charset="0"/>
              </a:rPr>
              <a:t>Nearest Star : Proxima Centauri - 4.3  Light Years</a:t>
            </a: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996633"/>
                </a:solidFill>
                <a:latin typeface="Times" charset="0"/>
              </a:rPr>
              <a:t>MILKY WAY galaxy 200 billion stars , 100,000 ly</a:t>
            </a: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66CC"/>
                </a:solidFill>
                <a:latin typeface="Times" charset="0"/>
              </a:rPr>
              <a:t>Sun - 30,000 ly from centre, Period 200 million y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1" y="4229100"/>
            <a:ext cx="3429000" cy="1562100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2889" y="5486401"/>
            <a:ext cx="3197224" cy="1219199"/>
          </a:xfrm>
          <a:prstGeom prst="rect">
            <a:avLst/>
          </a:prstGeom>
          <a:noFill/>
        </p:spPr>
      </p:pic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391025" y="5943600"/>
            <a:ext cx="475297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solidFill>
                  <a:srgbClr val="FF0000"/>
                </a:solidFill>
                <a:latin typeface="Times" charset="0"/>
              </a:rPr>
              <a:t>Milky way member of local group, 49 galaxies</a:t>
            </a:r>
            <a:r>
              <a:rPr lang="en-GB" dirty="0">
                <a:latin typeface="Times" charset="0"/>
              </a:rPr>
              <a:t> . </a:t>
            </a:r>
            <a:r>
              <a:rPr lang="en-GB" dirty="0">
                <a:solidFill>
                  <a:srgbClr val="00AE00"/>
                </a:solidFill>
                <a:latin typeface="Times" charset="0"/>
              </a:rPr>
              <a:t>LMC and SMC, Andromeda </a:t>
            </a: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solidFill>
                  <a:srgbClr val="00AE00"/>
                </a:solidFill>
                <a:latin typeface="Times" charset="0"/>
              </a:rPr>
              <a:t>2 Million </a:t>
            </a:r>
            <a:r>
              <a:rPr lang="en-GB" dirty="0" err="1">
                <a:solidFill>
                  <a:srgbClr val="00AE00"/>
                </a:solidFill>
                <a:latin typeface="Times" charset="0"/>
              </a:rPr>
              <a:t>ly</a:t>
            </a:r>
            <a:r>
              <a:rPr lang="en-GB" dirty="0">
                <a:solidFill>
                  <a:srgbClr val="00AE00"/>
                </a:solidFill>
                <a:latin typeface="Times" charset="0"/>
              </a:rPr>
              <a:t> away, 4 times massive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ChangeArrowheads="1"/>
          </p:cNvSpPr>
          <p:nvPr/>
        </p:nvSpPr>
        <p:spPr bwMode="auto">
          <a:xfrm>
            <a:off x="355600" y="468313"/>
            <a:ext cx="4684712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u="sng" dirty="0">
                <a:solidFill>
                  <a:srgbClr val="FF0000"/>
                </a:solidFill>
                <a:latin typeface="Times" charset="0"/>
              </a:rPr>
              <a:t>Some features of the Solar System</a:t>
            </a: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dirty="0">
              <a:solidFill>
                <a:srgbClr val="0066CC"/>
              </a:solidFill>
              <a:latin typeface="Times" charset="0"/>
            </a:endParaRP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solidFill>
                  <a:srgbClr val="0066CC"/>
                </a:solidFill>
                <a:latin typeface="Times" charset="0"/>
              </a:rPr>
              <a:t>Dominant member </a:t>
            </a:r>
            <a:r>
              <a:rPr lang="en-GB" dirty="0">
                <a:solidFill>
                  <a:srgbClr val="FF0000"/>
                </a:solidFill>
                <a:latin typeface="Times" charset="0"/>
              </a:rPr>
              <a:t> SUN</a:t>
            </a:r>
            <a:r>
              <a:rPr lang="en-GB" dirty="0">
                <a:latin typeface="Times" charset="0"/>
              </a:rPr>
              <a:t> </a:t>
            </a: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latin typeface="Times" charset="0"/>
              </a:rPr>
              <a:t>Oldest - 4.5 Billion years</a:t>
            </a: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solidFill>
                  <a:srgbClr val="FF00FF"/>
                </a:solidFill>
                <a:latin typeface="Times" charset="0"/>
              </a:rPr>
              <a:t>Mass - 99.85% of Solar System</a:t>
            </a: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solidFill>
                  <a:srgbClr val="00AE00"/>
                </a:solidFill>
                <a:latin typeface="Times" charset="0"/>
              </a:rPr>
              <a:t>Mainly Hydrogen gas, 6000 deg C</a:t>
            </a: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solidFill>
                  <a:srgbClr val="0000FF"/>
                </a:solidFill>
                <a:latin typeface="Times" charset="0"/>
              </a:rPr>
              <a:t>Photosphere, </a:t>
            </a:r>
            <a:r>
              <a:rPr lang="en-GB" dirty="0" err="1">
                <a:solidFill>
                  <a:srgbClr val="0000FF"/>
                </a:solidFill>
                <a:latin typeface="Times" charset="0"/>
              </a:rPr>
              <a:t>Chromosphere</a:t>
            </a:r>
            <a:r>
              <a:rPr lang="en-GB" dirty="0">
                <a:solidFill>
                  <a:srgbClr val="0000FF"/>
                </a:solidFill>
                <a:latin typeface="Times" charset="0"/>
              </a:rPr>
              <a:t>, Corona</a:t>
            </a: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latin typeface="Times" charset="0"/>
              </a:rPr>
              <a:t>Solar wind, Magnetic field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1" y="209550"/>
            <a:ext cx="4343399" cy="4194175"/>
          </a:xfrm>
          <a:prstGeom prst="rect">
            <a:avLst/>
          </a:prstGeom>
          <a:noFill/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77113" y="4391025"/>
            <a:ext cx="1766887" cy="1704975"/>
          </a:xfrm>
          <a:prstGeom prst="rect">
            <a:avLst/>
          </a:prstGeom>
          <a:noFill/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33975" y="4648201"/>
            <a:ext cx="2176463" cy="2209800"/>
          </a:xfrm>
          <a:prstGeom prst="rect">
            <a:avLst/>
          </a:prstGeom>
          <a:noFill/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7554913" y="6172200"/>
            <a:ext cx="161131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latin typeface="Times" charset="0"/>
              </a:rPr>
              <a:t>MARS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5780088" y="4419601"/>
            <a:ext cx="148272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latin typeface="Times" charset="0"/>
              </a:rPr>
              <a:t>JUPITER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2971800"/>
            <a:ext cx="4419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FF0000"/>
                </a:solidFill>
                <a:latin typeface="Times" charset="0"/>
              </a:rPr>
              <a:t>Nine planets : Mass 0.135%</a:t>
            </a: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0066CC"/>
                </a:solidFill>
                <a:latin typeface="Times" charset="0"/>
              </a:rPr>
              <a:t>Jupiter, almost a star.</a:t>
            </a: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FF00FF"/>
                </a:solidFill>
                <a:latin typeface="Times" charset="0"/>
              </a:rPr>
              <a:t>Outer planets, Gas Giants, Hydrogen,</a:t>
            </a:r>
            <a:r>
              <a:rPr lang="en-GB" dirty="0" smtClean="0">
                <a:latin typeface="Times" charset="0"/>
              </a:rPr>
              <a:t> </a:t>
            </a:r>
            <a:r>
              <a:rPr lang="en-GB" dirty="0" smtClean="0">
                <a:solidFill>
                  <a:srgbClr val="94006B"/>
                </a:solidFill>
                <a:latin typeface="Times" charset="0"/>
              </a:rPr>
              <a:t>Helium, Methane , Ammonia</a:t>
            </a: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2300DC"/>
                </a:solidFill>
                <a:latin typeface="Times" charset="0"/>
              </a:rPr>
              <a:t>Belts and Rings</a:t>
            </a:r>
            <a:endParaRPr lang="en-GB" dirty="0" smtClean="0">
              <a:latin typeface="Times" charset="0"/>
            </a:endParaRP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00AE00"/>
                </a:solidFill>
                <a:latin typeface="Times" charset="0"/>
              </a:rPr>
              <a:t>Inner Planets, terrestrial, Rocky, small</a:t>
            </a: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00AE00"/>
                </a:solidFill>
                <a:latin typeface="Times" charset="0"/>
              </a:rPr>
              <a:t>Possibility of life</a:t>
            </a: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dirty="0" smtClean="0">
              <a:solidFill>
                <a:srgbClr val="00AE00"/>
              </a:solidFill>
              <a:latin typeface="Times" charset="0"/>
            </a:endParaRP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FF0000"/>
                </a:solidFill>
                <a:latin typeface="Times" charset="0"/>
              </a:rPr>
              <a:t>Venus , Mercury – effect of tides</a:t>
            </a:r>
          </a:p>
          <a:p>
            <a:pPr>
              <a:buSzPct val="4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FF0000"/>
                </a:solidFill>
                <a:latin typeface="Times" charset="0"/>
              </a:rPr>
              <a:t>Slow rotation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ChangeArrowheads="1"/>
          </p:cNvSpPr>
          <p:nvPr/>
        </p:nvSpPr>
        <p:spPr bwMode="auto">
          <a:xfrm>
            <a:off x="0" y="1587"/>
            <a:ext cx="9448800" cy="6140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buSzPct val="54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 sz="1900" dirty="0">
                <a:latin typeface="Times" charset="0"/>
              </a:rPr>
              <a:t>          </a:t>
            </a:r>
            <a:r>
              <a:rPr lang="en-GB" sz="1900" dirty="0">
                <a:solidFill>
                  <a:srgbClr val="FF0000"/>
                </a:solidFill>
                <a:latin typeface="Times" charset="0"/>
              </a:rPr>
              <a:t> Distance   (AU)   Radius   Mass    Rotation  # Moons    </a:t>
            </a:r>
            <a:r>
              <a:rPr lang="en-GB" sz="1900" dirty="0" err="1">
                <a:solidFill>
                  <a:srgbClr val="FF0000"/>
                </a:solidFill>
                <a:latin typeface="Times" charset="0"/>
              </a:rPr>
              <a:t>Inclin</a:t>
            </a:r>
            <a:r>
              <a:rPr lang="en-GB" sz="1900" dirty="0">
                <a:solidFill>
                  <a:srgbClr val="FF0000"/>
                </a:solidFill>
                <a:latin typeface="Times" charset="0"/>
              </a:rPr>
              <a:t> Ecce    </a:t>
            </a:r>
            <a:r>
              <a:rPr lang="en-GB" sz="1900" dirty="0" err="1">
                <a:solidFill>
                  <a:srgbClr val="FF0000"/>
                </a:solidFill>
                <a:latin typeface="Times" charset="0"/>
              </a:rPr>
              <a:t>Obliq</a:t>
            </a:r>
            <a:r>
              <a:rPr lang="en-GB" sz="1900" dirty="0">
                <a:solidFill>
                  <a:srgbClr val="FF0000"/>
                </a:solidFill>
                <a:latin typeface="Times" charset="0"/>
              </a:rPr>
              <a:t>    </a:t>
            </a:r>
            <a:r>
              <a:rPr lang="en-GB" sz="1900" dirty="0" smtClean="0">
                <a:solidFill>
                  <a:srgbClr val="FF0000"/>
                </a:solidFill>
                <a:latin typeface="Times" charset="0"/>
              </a:rPr>
              <a:t>Den</a:t>
            </a:r>
          </a:p>
          <a:p>
            <a:pPr>
              <a:buSzPct val="54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 sz="1900" dirty="0" smtClean="0">
                <a:solidFill>
                  <a:srgbClr val="FF0000"/>
                </a:solidFill>
                <a:latin typeface="Times" charset="0"/>
              </a:rPr>
              <a:t>     </a:t>
            </a:r>
            <a:r>
              <a:rPr lang="en-GB" sz="1900" dirty="0" smtClean="0">
                <a:latin typeface="Times" charset="0"/>
              </a:rPr>
              <a:t>                                                                    </a:t>
            </a:r>
            <a:endParaRPr lang="en-GB" sz="1900" dirty="0">
              <a:latin typeface="Times" charset="0"/>
            </a:endParaRPr>
          </a:p>
          <a:p>
            <a:pPr>
              <a:buSzPct val="54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 sz="1900" dirty="0">
                <a:solidFill>
                  <a:srgbClr val="2300DC"/>
                </a:solidFill>
                <a:latin typeface="Times" charset="0"/>
              </a:rPr>
              <a:t>  Sun             0              109       332,800    25-36       9                                             </a:t>
            </a:r>
            <a:r>
              <a:rPr lang="en-GB" sz="1900" dirty="0" smtClean="0">
                <a:solidFill>
                  <a:srgbClr val="2300DC"/>
                </a:solidFill>
                <a:latin typeface="Times" charset="0"/>
              </a:rPr>
              <a:t>1.4</a:t>
            </a:r>
          </a:p>
          <a:p>
            <a:pPr>
              <a:buSzPct val="54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endParaRPr lang="en-GB" sz="1900" dirty="0">
              <a:latin typeface="Times" charset="0"/>
            </a:endParaRPr>
          </a:p>
          <a:p>
            <a:pPr>
              <a:buSzPct val="54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 sz="1900" dirty="0">
                <a:latin typeface="Times" charset="0"/>
              </a:rPr>
              <a:t> Mercury   0.39            0.38        0.05        58.8         0             7        0.2        0.1     </a:t>
            </a:r>
            <a:r>
              <a:rPr lang="en-GB" sz="1900" dirty="0" smtClean="0">
                <a:latin typeface="Times" charset="0"/>
              </a:rPr>
              <a:t>5.43</a:t>
            </a:r>
          </a:p>
          <a:p>
            <a:pPr>
              <a:buSzPct val="54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endParaRPr lang="en-GB" sz="1900" dirty="0">
              <a:latin typeface="Times" charset="0"/>
            </a:endParaRPr>
          </a:p>
          <a:p>
            <a:pPr>
              <a:buSzPct val="54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 sz="1900" dirty="0">
                <a:solidFill>
                  <a:srgbClr val="B84700"/>
                </a:solidFill>
                <a:latin typeface="Times" charset="0"/>
              </a:rPr>
              <a:t> Venus       0.72           0.95        0.89        244          0         3.394     0.007   177.4  </a:t>
            </a:r>
            <a:r>
              <a:rPr lang="en-GB" sz="1900" dirty="0" smtClean="0">
                <a:solidFill>
                  <a:srgbClr val="B84700"/>
                </a:solidFill>
                <a:latin typeface="Times" charset="0"/>
              </a:rPr>
              <a:t>5.25</a:t>
            </a:r>
          </a:p>
          <a:p>
            <a:pPr>
              <a:buSzPct val="54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endParaRPr lang="en-GB" sz="1900" dirty="0">
              <a:latin typeface="Times" charset="0"/>
            </a:endParaRPr>
          </a:p>
          <a:p>
            <a:pPr>
              <a:buSzPct val="54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 sz="1900" dirty="0">
                <a:latin typeface="Times" charset="0"/>
              </a:rPr>
              <a:t> Earth        1.0             1.00        1.00        1.00         1         0.000    0.0167  23.45  </a:t>
            </a:r>
            <a:r>
              <a:rPr lang="en-GB" sz="1900" dirty="0" smtClean="0">
                <a:latin typeface="Times" charset="0"/>
              </a:rPr>
              <a:t>5.52</a:t>
            </a:r>
          </a:p>
          <a:p>
            <a:pPr>
              <a:buSzPct val="54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 sz="1900" dirty="0" smtClean="0">
                <a:latin typeface="Times" charset="0"/>
              </a:rPr>
              <a:t>                                             </a:t>
            </a:r>
            <a:endParaRPr lang="en-GB" sz="1900" dirty="0">
              <a:latin typeface="Times" charset="0"/>
            </a:endParaRPr>
          </a:p>
          <a:p>
            <a:pPr>
              <a:buSzPct val="54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 sz="1900" dirty="0">
                <a:solidFill>
                  <a:srgbClr val="0000FF"/>
                </a:solidFill>
                <a:latin typeface="Times" charset="0"/>
              </a:rPr>
              <a:t> Mars        1.5             0.53        0.11       1.029        2        1.850     0.0934  25.19   </a:t>
            </a:r>
            <a:r>
              <a:rPr lang="en-GB" sz="1900" dirty="0" smtClean="0">
                <a:solidFill>
                  <a:srgbClr val="0000FF"/>
                </a:solidFill>
                <a:latin typeface="Times" charset="0"/>
              </a:rPr>
              <a:t>3.95</a:t>
            </a:r>
          </a:p>
          <a:p>
            <a:pPr>
              <a:buSzPct val="54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endParaRPr lang="en-GB" sz="1900" dirty="0" smtClean="0">
              <a:solidFill>
                <a:srgbClr val="0000FF"/>
              </a:solidFill>
              <a:latin typeface="Times" charset="0"/>
            </a:endParaRPr>
          </a:p>
          <a:p>
            <a:pPr>
              <a:buSzPct val="54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 sz="1900" dirty="0" smtClean="0">
                <a:latin typeface="Times" charset="0"/>
              </a:rPr>
              <a:t> Jupiter       5.2             11         318        0.411        16      1.308     0.0483   3.12    1.33</a:t>
            </a:r>
          </a:p>
          <a:p>
            <a:pPr>
              <a:buSzPct val="54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endParaRPr lang="en-GB" sz="1900" dirty="0" smtClean="0">
              <a:latin typeface="Times" charset="0"/>
            </a:endParaRPr>
          </a:p>
          <a:p>
            <a:pPr>
              <a:buSzPct val="54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 sz="1900" dirty="0" smtClean="0">
                <a:solidFill>
                  <a:srgbClr val="B84747"/>
                </a:solidFill>
                <a:latin typeface="Times" charset="0"/>
              </a:rPr>
              <a:t> </a:t>
            </a:r>
            <a:r>
              <a:rPr lang="en-GB" sz="1900" dirty="0">
                <a:solidFill>
                  <a:srgbClr val="B84747"/>
                </a:solidFill>
                <a:latin typeface="Times" charset="0"/>
              </a:rPr>
              <a:t>Saturn       9.5              9           95         0.428        18      2.488      0.0560 26.73   </a:t>
            </a:r>
            <a:r>
              <a:rPr lang="en-GB" sz="1900" dirty="0" smtClean="0">
                <a:solidFill>
                  <a:srgbClr val="B84747"/>
                </a:solidFill>
                <a:latin typeface="Times" charset="0"/>
              </a:rPr>
              <a:t>0.69</a:t>
            </a:r>
          </a:p>
          <a:p>
            <a:pPr>
              <a:buSzPct val="54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endParaRPr lang="en-GB" sz="1900" dirty="0">
              <a:latin typeface="Times" charset="0"/>
            </a:endParaRPr>
          </a:p>
          <a:p>
            <a:pPr>
              <a:buSzPct val="54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 sz="1900" dirty="0">
                <a:latin typeface="Times" charset="0"/>
              </a:rPr>
              <a:t>Uranus      19.2             4          17          0.748        15      0.774      0.0461  97.36  </a:t>
            </a:r>
            <a:r>
              <a:rPr lang="en-GB" sz="1900" dirty="0" smtClean="0">
                <a:latin typeface="Times" charset="0"/>
              </a:rPr>
              <a:t>1.29</a:t>
            </a:r>
          </a:p>
          <a:p>
            <a:pPr>
              <a:buSzPct val="54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endParaRPr lang="en-GB" sz="1900" dirty="0">
              <a:latin typeface="Times" charset="0"/>
            </a:endParaRPr>
          </a:p>
          <a:p>
            <a:pPr>
              <a:buSzPct val="54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 sz="1900" dirty="0">
                <a:solidFill>
                  <a:srgbClr val="0066CC"/>
                </a:solidFill>
                <a:latin typeface="Times" charset="0"/>
              </a:rPr>
              <a:t>Neptune    30.1             4          17          0.802         8        1.774     0.0097 29.56   </a:t>
            </a:r>
            <a:r>
              <a:rPr lang="en-GB" sz="1900" dirty="0" smtClean="0">
                <a:solidFill>
                  <a:srgbClr val="0066CC"/>
                </a:solidFill>
                <a:latin typeface="Times" charset="0"/>
              </a:rPr>
              <a:t>1.64</a:t>
            </a:r>
          </a:p>
          <a:p>
            <a:pPr>
              <a:buSzPct val="54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endParaRPr lang="en-GB" sz="1900" dirty="0">
              <a:latin typeface="Times" charset="0"/>
            </a:endParaRPr>
          </a:p>
          <a:p>
            <a:pPr>
              <a:buSzPct val="54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 sz="1900" dirty="0">
                <a:latin typeface="Times" charset="0"/>
              </a:rPr>
              <a:t> Pluto        39.5           0.18      0.002      0.267          1       17.15     0.2482 119.6   2.03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ChangeArrowheads="1"/>
          </p:cNvSpPr>
          <p:nvPr/>
        </p:nvSpPr>
        <p:spPr bwMode="auto">
          <a:xfrm>
            <a:off x="258763" y="274639"/>
            <a:ext cx="8580437" cy="553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>
                <a:solidFill>
                  <a:srgbClr val="FF0000"/>
                </a:solidFill>
              </a:rPr>
              <a:t>Much has been learnt about the solar system thru interplanetary space probes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endParaRPr lang="en-GB">
              <a:solidFill>
                <a:srgbClr val="FF0000"/>
              </a:solidFill>
            </a:endParaRP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>
                <a:solidFill>
                  <a:srgbClr val="0000FF"/>
                </a:solidFill>
              </a:rPr>
              <a:t>Earlier Appollo series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>
                <a:solidFill>
                  <a:srgbClr val="993366"/>
                </a:solidFill>
              </a:rPr>
              <a:t>Mariners,Vikings,  Pioneers, Voyagers,Galileo ( Venera, Mars)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>
                <a:solidFill>
                  <a:srgbClr val="00AE00"/>
                </a:solidFill>
              </a:rPr>
              <a:t>Recently, Rover, Spirit, Opportunity,Cassini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endParaRPr lang="en-GB">
              <a:solidFill>
                <a:srgbClr val="00AE00"/>
              </a:solidFill>
            </a:endParaRP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>
                <a:solidFill>
                  <a:srgbClr val="FF0000"/>
                </a:solidFill>
              </a:rPr>
              <a:t>Some major features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endParaRPr lang="en-GB">
              <a:solidFill>
                <a:srgbClr val="FF0000"/>
              </a:solidFill>
            </a:endParaRP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>
                <a:solidFill>
                  <a:srgbClr val="0000FF"/>
                </a:solidFill>
              </a:rPr>
              <a:t>Venus :  Surface Temp : 400 deg C. Atmosphere , 95% Carbon-di-oxide, Sulphuric acid. Clouds of frozen CO2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endParaRPr lang="en-GB">
              <a:solidFill>
                <a:srgbClr val="0000FF"/>
              </a:solidFill>
            </a:endParaRP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>
                <a:solidFill>
                  <a:srgbClr val="94006B"/>
                </a:solidFill>
              </a:rPr>
              <a:t>Mars : Polar cap- ice water, Definitely water flowed on the surface once- canyons, Oxygen in the atmosphere. High mountain (Mons Olympus) . Possibility of microscopic life 3 billion years ago. Probably even now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endParaRPr lang="en-GB">
              <a:solidFill>
                <a:srgbClr val="94006B"/>
              </a:solidFill>
            </a:endParaRP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>
                <a:solidFill>
                  <a:srgbClr val="FF00FF"/>
                </a:solidFill>
              </a:rPr>
              <a:t>Jupitor's moons : Io has active volcano, Europa has water. Jupitor has a belt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endParaRPr lang="en-GB">
              <a:solidFill>
                <a:srgbClr val="94006B"/>
              </a:solidFill>
            </a:endParaRP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>
                <a:solidFill>
                  <a:srgbClr val="0000FF"/>
                </a:solidFill>
              </a:rPr>
              <a:t>Saturn's moon - Titan has water and liquid methane Seas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endParaRPr lang="en-GB">
              <a:solidFill>
                <a:srgbClr val="94006B"/>
              </a:solidFill>
            </a:endParaRP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</a:tabLst>
            </a:pPr>
            <a:r>
              <a:rPr lang="en-GB">
                <a:solidFill>
                  <a:srgbClr val="00AE00"/>
                </a:solidFill>
              </a:rPr>
              <a:t>Uranus and Neptune have rings . Neptune has lots more satellites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228600"/>
            <a:ext cx="6019800" cy="6096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28600" y="609599"/>
            <a:ext cx="2209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0000FF"/>
                </a:solidFill>
              </a:rPr>
              <a:t>Stars :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FF0000"/>
                </a:solidFill>
              </a:rPr>
              <a:t>Constellations 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FF0000"/>
                </a:solidFill>
              </a:rPr>
              <a:t>Magnitude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FF0000"/>
                </a:solidFill>
              </a:rPr>
              <a:t>Distance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993366"/>
                </a:solidFill>
              </a:rPr>
              <a:t>Velocity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993366"/>
                </a:solidFill>
              </a:rPr>
              <a:t>Spectra, Temp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993366"/>
                </a:solidFill>
              </a:rPr>
              <a:t>Radius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993366"/>
                </a:solidFill>
              </a:rPr>
              <a:t>Mass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dirty="0" smtClean="0"/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FF00FF"/>
                </a:solidFill>
              </a:rPr>
              <a:t>Main Sequence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FF00FF"/>
                </a:solidFill>
              </a:rPr>
              <a:t>Birth &amp; Death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FF00FF"/>
                </a:solidFill>
              </a:rPr>
              <a:t>Composition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dirty="0" smtClean="0">
              <a:solidFill>
                <a:srgbClr val="FF00FF"/>
              </a:solidFill>
            </a:endParaRP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00AE00"/>
                </a:solidFill>
              </a:rPr>
              <a:t>Variable stars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00AE00"/>
                </a:solidFill>
              </a:rPr>
              <a:t>Supernova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dirty="0" smtClean="0"/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FF3333"/>
                </a:solidFill>
              </a:rPr>
              <a:t>Red Giants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FF3333"/>
                </a:solidFill>
              </a:rPr>
              <a:t>White Dwarves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FF3333"/>
                </a:solidFill>
              </a:rPr>
              <a:t>Neutron Stars</a:t>
            </a:r>
          </a:p>
          <a:p>
            <a:pP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solidFill>
                  <a:srgbClr val="FF3333"/>
                </a:solidFill>
              </a:rPr>
              <a:t>Black holes</a:t>
            </a:r>
            <a:endParaRPr lang="en-GB" dirty="0">
              <a:solidFill>
                <a:srgbClr val="FF333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608660"/>
            <a:ext cx="7315200" cy="121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/>
            <a:r>
              <a:rPr lang="en-US" sz="2440" dirty="0" smtClean="0">
                <a:solidFill>
                  <a:srgbClr val="FF0000"/>
                </a:solidFill>
              </a:rPr>
              <a:t>THANKS FOR BEING PATIENT </a:t>
            </a:r>
          </a:p>
          <a:p>
            <a:pPr marL="342900" indent="-342900" algn="ctr"/>
            <a:endParaRPr lang="en-US" sz="2440" dirty="0" smtClean="0">
              <a:solidFill>
                <a:srgbClr val="FF0000"/>
              </a:solidFill>
            </a:endParaRPr>
          </a:p>
          <a:p>
            <a:pPr marL="342900" indent="-342900" algn="ctr"/>
            <a:r>
              <a:rPr lang="en-US" sz="2440" dirty="0" smtClean="0">
                <a:solidFill>
                  <a:srgbClr val="FF0000"/>
                </a:solidFill>
              </a:rPr>
              <a:t>And giving me a reason for living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990</Words>
  <Application>Microsoft Office PowerPoint</Application>
  <PresentationFormat>On-screen Show (4:3)</PresentationFormat>
  <Paragraphs>164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IISER Kolkata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Raj</dc:creator>
  <cp:lastModifiedBy>Raj</cp:lastModifiedBy>
  <cp:revision>9</cp:revision>
  <dcterms:created xsi:type="dcterms:W3CDTF">2010-01-21T12:15:16Z</dcterms:created>
  <dcterms:modified xsi:type="dcterms:W3CDTF">2010-01-21T12:25:06Z</dcterms:modified>
</cp:coreProperties>
</file>